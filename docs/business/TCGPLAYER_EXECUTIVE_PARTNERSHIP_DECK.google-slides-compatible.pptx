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4617720" y="65836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100" dirty="0">
                <a:solidFill>
                  <a:srgbClr val="5D6B7A"/>
                </a:solidFill>
                <a:latin typeface="Inter"/>
              </a:rPr>
              <a:t>Reserved logo area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4800600" y="1143000"/>
            <a:ext cx="256032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5" name="Shape 5"/>
          <p:cNvSpPr txBox="1"/>
          <p:nvPr/>
        </p:nvSpPr>
        <p:spPr>
          <a:xfrm>
            <a:off x="2194560" y="1874520"/>
            <a:ext cx="781812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3000" dirty="0">
                <a:b/>
                <a:solidFill>
                  <a:srgbClr val="0B1F33"/>
                </a:solidFill>
                <a:latin typeface="Cinzel"/>
              </a:rPr>
              <a:t>PROJECT PHRONESIS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3429000" y="254203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500" dirty="0">
                <a:solidFill>
                  <a:srgbClr val="C6A15B"/>
                </a:solidFill>
                <a:latin typeface="Inter"/>
              </a:rPr>
              <a:t>Practical Wisdom. Better Decisions.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2423160" y="3401568"/>
            <a:ext cx="740664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2300" dirty="0">
                <a:b/>
                <a:solidFill>
                  <a:srgbClr val="0B1F33"/>
                </a:solidFill>
                <a:latin typeface="Cinzel"/>
              </a:rPr>
              <a:t>TCGplayer Ecosystem Partnership Proposal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206240" y="4608576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050" dirty="0">
                <a:solidFill>
                  <a:srgbClr val="5D6B7A"/>
                </a:solidFill>
                <a:latin typeface="Inter"/>
              </a:rPr>
              <a:t>Prepared for TCGplayer
July 9, 2026
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One-Sentence Vision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Confidence precedes commerce.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6974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Project Phronesis can strengthen the TCGplayer ecosystem by helping marketplace participants arrive with more context, more confidence, and clearer intent.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Executive Summary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This is a partnership conversation, not an API access request.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6974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Project Phronesis is the internal engineering initiative responsible for developing an evidence-driven decision intelligence platform for collectible markets.
It is the engineering identity, not necessarily the future customer-facing product name.
The platform helps collectors, vendors, and professional operators make better decisions from available market evidence.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Why Project Phronesis Exists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The platform is not designed merely to display market data.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6974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It exists to help users make better decisions.
Practical wisdom means:
• Evidence before conclusions.
• Disciplined judgment before action.
• Explainable intelligence instead of opaque claims.
• Marketplace enablement rather than marketplace replacement.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Why This Benefits TCGplayer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Decision support strengthens marketplaces.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6974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Project Phronesis can help marketplace participants become:
• More confident before purchase.
• More informed before restock.
• More prepared to act.
• More likely to reach trusted marketplaces with clear intent.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Marketplace Flywheel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Better-informed collectors create healthier marketplaces.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77240" y="2880360"/>
            <a:ext cx="1508760" cy="71323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Collector / Vendor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2286000" y="3246120"/>
            <a:ext cx="32004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0" name="Shape 10"/>
          <p:cNvSpPr txBox="1"/>
          <p:nvPr/>
        </p:nvSpPr>
        <p:spPr>
          <a:xfrm>
            <a:off x="2606040" y="2880360"/>
            <a:ext cx="1508760" cy="71323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Project Phronesis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4114800" y="3246120"/>
            <a:ext cx="4114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2" name="Shape 12"/>
          <p:cNvSpPr txBox="1"/>
          <p:nvPr/>
        </p:nvSpPr>
        <p:spPr>
          <a:xfrm>
            <a:off x="4526280" y="2880360"/>
            <a:ext cx="1508760" cy="71323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Decision Intelligence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6035040" y="3246120"/>
            <a:ext cx="4114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4" name="Shape 14"/>
          <p:cNvSpPr txBox="1"/>
          <p:nvPr/>
        </p:nvSpPr>
        <p:spPr>
          <a:xfrm>
            <a:off x="6446520" y="2880360"/>
            <a:ext cx="1508760" cy="713232"/>
          </a:xfrm>
          <a:prstGeom prst="rect">
            <a:avLst/>
          </a:prstGeom>
          <a:solidFill>
            <a:srgbClr val="0B1F33"/>
          </a:solidFill>
          <a:ln w="9000">
            <a:solidFill>
              <a:srgbClr val="0B1F33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FFFFFF"/>
                </a:solidFill>
                <a:latin typeface="Inter"/>
              </a:rPr>
              <a:t>TCGplayer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7955280" y="3246120"/>
            <a:ext cx="32004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6" name="Shape 16"/>
          <p:cNvSpPr txBox="1"/>
          <p:nvPr/>
        </p:nvSpPr>
        <p:spPr>
          <a:xfrm>
            <a:off x="8275320" y="2880360"/>
            <a:ext cx="1508760" cy="71323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Marketplace Participation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9784080" y="3246120"/>
            <a:ext cx="1828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8" name="Shape 18"/>
          <p:cNvSpPr txBox="1"/>
          <p:nvPr/>
        </p:nvSpPr>
        <p:spPr>
          <a:xfrm>
            <a:off x="9966960" y="2880360"/>
            <a:ext cx="1508760" cy="71323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Better-Informed Community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Global Ecosystem Vision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Project Phronesis is an intelligence layer across regions.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005840" y="2606040"/>
            <a:ext cx="1554480" cy="47548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North America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429000" y="3913632"/>
            <a:ext cx="1554480" cy="47548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Brazil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852160" y="2514600"/>
            <a:ext cx="1554480" cy="47548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Europe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321040" y="2971800"/>
            <a:ext cx="1554480" cy="47548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Asia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709160" y="4005072"/>
            <a:ext cx="2057400" cy="585216"/>
          </a:xfrm>
          <a:prstGeom prst="rect">
            <a:avLst/>
          </a:prstGeom>
          <a:solidFill>
            <a:srgbClr val="0B1F33"/>
          </a:solidFill>
          <a:ln w="9000">
            <a:solidFill>
              <a:srgbClr val="0B1F33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1050" dirty="0">
                <a:solidFill>
                  <a:srgbClr val="FFFFFF"/>
                </a:solidFill>
                <a:latin typeface="Inter"/>
              </a:rPr>
              <a:t>Project Phronesis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4983480" y="5074920"/>
            <a:ext cx="1508760" cy="530352"/>
          </a:xfrm>
          <a:prstGeom prst="rect">
            <a:avLst/>
          </a:prstGeom>
          <a:solidFill>
            <a:srgbClr val="F7F4EE"/>
          </a:solidFill>
          <a:ln w="9000">
            <a:solidFill>
              <a:srgbClr val="C6A15B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1050" dirty="0">
                <a:solidFill>
                  <a:srgbClr val="0B1F33"/>
                </a:solidFill>
                <a:latin typeface="Inter"/>
              </a:rPr>
              <a:t>TCGplayer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1783080" y="3081528"/>
            <a:ext cx="3931920" cy="9235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cxnSp>
        <p:nvCxnSpPr>
          <p:cNvPr id="15" name="Connector 15"/>
          <p:cNvCxnSpPr/>
          <p:nvPr/>
        </p:nvCxnSpPr>
        <p:spPr>
          <a:xfrm>
            <a:off x="4206240" y="4005072"/>
            <a:ext cx="1508760" cy="384048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cxnSp>
        <p:nvCxnSpPr>
          <p:cNvPr id="16" name="Connector 16"/>
          <p:cNvCxnSpPr/>
          <p:nvPr/>
        </p:nvCxnSpPr>
        <p:spPr>
          <a:xfrm>
            <a:off x="5715000" y="2990088"/>
            <a:ext cx="914400" cy="101498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cxnSp>
        <p:nvCxnSpPr>
          <p:cNvPr id="17" name="Connector 17"/>
          <p:cNvCxnSpPr/>
          <p:nvPr/>
        </p:nvCxnSpPr>
        <p:spPr>
          <a:xfrm>
            <a:off x="5715000" y="3447288"/>
            <a:ext cx="3383280" cy="55778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cxnSp>
        <p:nvCxnSpPr>
          <p:cNvPr id="18" name="Connector 18"/>
          <p:cNvCxnSpPr/>
          <p:nvPr/>
        </p:nvCxnSpPr>
        <p:spPr>
          <a:xfrm>
            <a:off x="5715000" y="4590288"/>
            <a:ext cx="9144" cy="484632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9" name="Shape 19"/>
          <p:cNvSpPr txBox="1"/>
          <p:nvPr/>
        </p:nvSpPr>
        <p:spPr>
          <a:xfrm>
            <a:off x="868680" y="576072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Regional experience matters because product availability, buying habits, shipping barriers, trust signals, and marketplace confidence differ across regions.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Future User Journeys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Informed workflows create qualified purchase intent.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14400" y="2880360"/>
            <a:ext cx="1600200" cy="685800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1000" dirty="0">
                <a:solidFill>
                  <a:srgbClr val="0B1F33"/>
                </a:solidFill>
                <a:latin typeface="Inter"/>
              </a:rPr>
              <a:t>Collection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2514600" y="3227832"/>
            <a:ext cx="50292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0" name="Shape 10"/>
          <p:cNvSpPr txBox="1"/>
          <p:nvPr/>
        </p:nvSpPr>
        <p:spPr>
          <a:xfrm>
            <a:off x="3017520" y="2880360"/>
            <a:ext cx="1600200" cy="685800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1000" dirty="0">
                <a:solidFill>
                  <a:srgbClr val="0B1F33"/>
                </a:solidFill>
                <a:latin typeface="Inter"/>
              </a:rPr>
              <a:t>Watchlists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4617720" y="3227832"/>
            <a:ext cx="50292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2" name="Shape 12"/>
          <p:cNvSpPr txBox="1"/>
          <p:nvPr/>
        </p:nvSpPr>
        <p:spPr>
          <a:xfrm>
            <a:off x="5120640" y="2880360"/>
            <a:ext cx="1600200" cy="685800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1000" dirty="0">
                <a:solidFill>
                  <a:srgbClr val="0B1F33"/>
                </a:solidFill>
                <a:latin typeface="Inter"/>
              </a:rPr>
              <a:t>Inventory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6720840" y="3227832"/>
            <a:ext cx="50292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4" name="Shape 14"/>
          <p:cNvSpPr txBox="1"/>
          <p:nvPr/>
        </p:nvSpPr>
        <p:spPr>
          <a:xfrm>
            <a:off x="7223760" y="2880360"/>
            <a:ext cx="1600200" cy="685800"/>
          </a:xfrm>
          <a:prstGeom prst="rect">
            <a:avLst/>
          </a:prstGeom>
          <a:solidFill>
            <a:srgbClr val="0B1F33"/>
          </a:solidFill>
          <a:ln w="9000">
            <a:solidFill>
              <a:srgbClr val="0B1F33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1000" dirty="0">
                <a:solidFill>
                  <a:srgbClr val="FFFFFF"/>
                </a:solidFill>
                <a:latin typeface="Inter"/>
              </a:rPr>
              <a:t>Decision Support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8823960" y="3227832"/>
            <a:ext cx="50292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6" name="Shape 16"/>
          <p:cNvSpPr txBox="1"/>
          <p:nvPr/>
        </p:nvSpPr>
        <p:spPr>
          <a:xfrm>
            <a:off x="9326880" y="2880360"/>
            <a:ext cx="1600200" cy="685800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1000" dirty="0">
                <a:solidFill>
                  <a:srgbClr val="0B1F33"/>
                </a:solidFill>
                <a:latin typeface="Inter"/>
              </a:rPr>
              <a:t>Marketplace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68680" y="425196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Future workflows may include collection management, inventory management, portfolio tracking, market monitoring, purchase planning, restock planning, vendor evaluation, and marketplace-aware decision support.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Responsible Platform Philosophy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Responsible integration means respecting partner infrastructure.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6974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Responsible platform principles:
• Reuse previously generated observations where appropriate.
• Avoid unnecessary repeated requests.
• Request external data only when there is a workflow reason.
• Keep information boundaries clear.
• Respect marketplace and provider infrastructure.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Affiliate Alignment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Affiliate participation should align incentives, not imply access or endorsement.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6974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If Project Phronesis helps users evaluate assets and reach purchase intent, affiliate pathways could direct qualified, purchase-ready users toward TCGplayer.
Alignment:
• Users receive decision support.
• TCGplayer receives higher-intent traffic.
• Sellers benefit from more informed buyers.
• Project Phronesis supports marketplace activity without becoming a marketplace.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What We Are Not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Project Phronesis is designed for decision support and marketplace enablement.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14400" y="2743200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300" dirty="0">
                <a:b/>
                <a:solidFill>
                  <a:srgbClr val="5D6B7A"/>
                </a:solidFill>
                <a:latin typeface="Inter"/>
              </a:rPr>
              <a:t>NOT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400800" y="2743200"/>
            <a:ext cx="470916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1300" dirty="0">
                <a:b/>
                <a:solidFill>
                  <a:srgbClr val="C6A15B"/>
                </a:solidFill>
                <a:latin typeface="Inter"/>
              </a:rPr>
              <a:t>INSTEAD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05840" y="324612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Marketplace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492240" y="324612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Marketplace enablement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1005840" y="374904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Scraper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492240" y="374904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Responsible integration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1005840" y="425196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Bot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492240" y="425196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Decision support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1005840" y="475488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Price manipulator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492240" y="475488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Market education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05840" y="525780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Replacement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6492240" y="5257800"/>
            <a:ext cx="4434840" cy="347472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00" dirty="0">
                <a:solidFill>
                  <a:srgbClr val="0B1F33"/>
                </a:solidFill>
                <a:latin typeface="Inter"/>
              </a:rPr>
              <a:t>Marketplace alignment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Long-Term Partnership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A successful relationship helps users become better prepared when they reach TCGplayer.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143000" y="2971800"/>
            <a:ext cx="1874520" cy="67665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Better Context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3017520" y="33101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0" name="Shape 10"/>
          <p:cNvSpPr txBox="1"/>
          <p:nvPr/>
        </p:nvSpPr>
        <p:spPr>
          <a:xfrm>
            <a:off x="3657600" y="2971800"/>
            <a:ext cx="1874520" cy="67665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Better Decisions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5532120" y="33101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2" name="Shape 12"/>
          <p:cNvSpPr txBox="1"/>
          <p:nvPr/>
        </p:nvSpPr>
        <p:spPr>
          <a:xfrm>
            <a:off x="6172200" y="2971800"/>
            <a:ext cx="1874520" cy="67665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Higher-Intent Activity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8046720" y="33101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4" name="Shape 14"/>
          <p:cNvSpPr txBox="1"/>
          <p:nvPr/>
        </p:nvSpPr>
        <p:spPr>
          <a:xfrm>
            <a:off x="8686800" y="2971800"/>
            <a:ext cx="1874520" cy="67665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950" dirty="0">
                <a:solidFill>
                  <a:srgbClr val="0B1F33"/>
                </a:solidFill>
                <a:latin typeface="Inter"/>
              </a:rPr>
              <a:t>Stronger Participation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68680" y="434340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The long-term opportunity is healthier marketplace participation, better collector experience, stronger vendor efficiency, and clearer marketplace education.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Call To Conversation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The requested next step is a discussion.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6974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Useful discussion topics:
• Whether TCGplayer sees value in decision support that guides informed users toward marketplace participation.
• Whether affiliate alignment is an appropriate early collaboration path.
• What responsible integration expectations TCGplayer would want a future partner to follow.
• Which workflows create constructive marketplace value.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Platform Snapshot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A conceptual map only. No implementation details.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914400" y="26060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Identity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2971800" y="28529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0" name="Shape 10"/>
          <p:cNvSpPr txBox="1"/>
          <p:nvPr/>
        </p:nvSpPr>
        <p:spPr>
          <a:xfrm>
            <a:off x="3611880" y="26060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Knowledge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5669280" y="28529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2" name="Shape 12"/>
          <p:cNvSpPr txBox="1"/>
          <p:nvPr/>
        </p:nvSpPr>
        <p:spPr>
          <a:xfrm>
            <a:off x="6309360" y="26060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Eligibility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8366760" y="28529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4" name="Shape 14"/>
          <p:cNvSpPr txBox="1"/>
          <p:nvPr/>
        </p:nvSpPr>
        <p:spPr>
          <a:xfrm>
            <a:off x="9006840" y="26060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Providers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914400" y="2852928"/>
            <a:ext cx="10149840" cy="914400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6" name="Shape 16"/>
          <p:cNvSpPr txBox="1"/>
          <p:nvPr/>
        </p:nvSpPr>
        <p:spPr>
          <a:xfrm>
            <a:off x="914400" y="35204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Replay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2971800" y="37673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18" name="Shape 18"/>
          <p:cNvSpPr txBox="1"/>
          <p:nvPr/>
        </p:nvSpPr>
        <p:spPr>
          <a:xfrm>
            <a:off x="3611880" y="35204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Repository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5669280" y="37673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20" name="Shape 20"/>
          <p:cNvSpPr txBox="1"/>
          <p:nvPr/>
        </p:nvSpPr>
        <p:spPr>
          <a:xfrm>
            <a:off x="6309360" y="35204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Market Intelligence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8366760" y="37673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22" name="Shape 22"/>
          <p:cNvSpPr txBox="1"/>
          <p:nvPr/>
        </p:nvSpPr>
        <p:spPr>
          <a:xfrm>
            <a:off x="9006840" y="35204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Assessment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914400" y="3767328"/>
            <a:ext cx="10149840" cy="914400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24" name="Shape 24"/>
          <p:cNvSpPr txBox="1"/>
          <p:nvPr/>
        </p:nvSpPr>
        <p:spPr>
          <a:xfrm>
            <a:off x="914400" y="44348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Strategy</a:t>
            </a:r>
          </a:p>
        </p:txBody>
      </p:sp>
      <p:cxnSp>
        <p:nvCxnSpPr>
          <p:cNvPr id="25" name="Connector 25"/>
          <p:cNvCxnSpPr/>
          <p:nvPr/>
        </p:nvCxnSpPr>
        <p:spPr>
          <a:xfrm>
            <a:off x="2971800" y="46817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26" name="Shape 26"/>
          <p:cNvSpPr txBox="1"/>
          <p:nvPr/>
        </p:nvSpPr>
        <p:spPr>
          <a:xfrm>
            <a:off x="3611880" y="4434840"/>
            <a:ext cx="2057400" cy="493776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0B1F33"/>
                </a:solidFill>
                <a:latin typeface="Inter"/>
              </a:rPr>
              <a:t>Negotiation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5669280" y="4681728"/>
            <a:ext cx="640080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28" name="Shape 28"/>
          <p:cNvSpPr txBox="1"/>
          <p:nvPr/>
        </p:nvSpPr>
        <p:spPr>
          <a:xfrm>
            <a:off x="6309360" y="4434840"/>
            <a:ext cx="2057400" cy="493776"/>
          </a:xfrm>
          <a:prstGeom prst="rect">
            <a:avLst/>
          </a:prstGeom>
          <a:solidFill>
            <a:srgbClr val="0B1F33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c"/>
            <a:r>
              <a:rPr lang="en-US" sz="850" dirty="0">
                <a:solidFill>
                  <a:srgbClr val="FFFFFF"/>
                </a:solidFill>
                <a:latin typeface="Inter"/>
              </a:rPr>
              <a:t>Decision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868680" y="553212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This snapshot orients the reader to conceptual layers without exposing proprietary implementation.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000">
            <a:solidFill>
              <a:srgbClr val="FFFFFF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800" dirty="0">
                <a:solidFill>
                  <a:srgbClr val="0B1F33"/>
                </a:solidFill>
                <a:latin typeface="Inter"/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594360" y="32004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850" dirty="0">
                <a:solidFill>
                  <a:srgbClr val="5D6B7A"/>
                </a:solidFill>
                <a:latin typeface="Inter"/>
              </a:rPr>
              <a:t>[Logo]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8229600" y="3108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00" dirty="0">
                <a:solidFill>
                  <a:srgbClr val="5D6B7A"/>
                </a:solidFill>
                <a:latin typeface="Inter"/>
              </a:rPr>
              <a:t>TCGplayer Partnership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58368" y="676656"/>
            <a:ext cx="10817352" cy="9144"/>
          </a:xfrm>
          <a:prstGeom prst="line">
            <a:avLst/>
          </a:prstGeom>
          <a:ln w="14000">
            <a:solidFill>
              <a:srgbClr val="C6A15B"/>
            </a:solidFill>
            <a:tailEnd type="triangle"/>
          </a:ln>
        </p:spPr>
        <p:style/>
      </p:cxnSp>
      <p:sp>
        <p:nvSpPr>
          <p:cNvPr id="6" name="Shape 6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500" dirty="0">
                <a:b/>
                <a:solidFill>
                  <a:srgbClr val="0B1F33"/>
                </a:solidFill>
                <a:latin typeface="Cinzel"/>
              </a:rPr>
              <a:t>Closing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68680" y="1755648"/>
            <a:ext cx="10378440" cy="658368"/>
          </a:xfrm>
          <a:prstGeom prst="rect">
            <a:avLst/>
          </a:prstGeom>
          <a:solidFill>
            <a:srgbClr val="F7F4EE"/>
          </a:solidFill>
          <a:ln w="9000">
            <a:solidFill>
              <a:srgbClr val="F7F4EE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600" dirty="0">
                <a:b/>
                <a:solidFill>
                  <a:srgbClr val="0B1F33"/>
                </a:solidFill>
                <a:latin typeface="Inter"/>
              </a:rPr>
              <a:t>Project Phronesis exists to help collectible-market participants make better decisions under real-world conditions.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68680" y="2697480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50" dirty="0">
                <a:solidFill>
                  <a:srgbClr val="5D6B7A"/>
                </a:solidFill>
                <a:latin typeface="Inter"/>
              </a:rPr>
              <a:t>TCGplayer is already a central marketplace in the collectible-card ecosystem.
A thoughtful partnership could help collectors and vendors make better decisions before they arrive at the marketplace, then guide qualified, purchase-ready activity toward TCGplayer rather than away from it.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85800" y="64739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700" dirty="0">
                <a:solidFill>
                  <a:srgbClr val="5D6B7A"/>
                </a:solidFill>
                <a:latin typeface="Inter"/>
              </a:rPr>
              <a:t>Project Phronesis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440680" y="6473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"/>
            <a:r>
              <a:rPr lang="en-US" sz="700" dirty="0">
                <a:solidFill>
                  <a:srgbClr val="5D6B7A"/>
                </a:solidFill>
                <a:latin typeface="Inter"/>
              </a:rPr>
              <a:t>Confidential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0241280" y="6473952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700" dirty="0">
                <a:solidFill>
                  <a:srgbClr val="5D6B7A"/>
                </a:solidFill>
                <a:latin typeface="Inter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Phronesis">
  <a:themeElements>
    <a:clrScheme name="Phronesis">
      <a:dk1>
        <a:srgbClr val="0B1F33"/>
      </a:dk1>
      <a:lt1>
        <a:srgbClr val="FFFFFF"/>
      </a:lt1>
      <a:dk2>
        <a:srgbClr val="5D6B7A"/>
      </a:dk2>
      <a:lt2>
        <a:srgbClr val="F7F4EE"/>
      </a:lt2>
      <a:accent1>
        <a:srgbClr val="C6A15B"/>
      </a:accent1>
      <a:accent2>
        <a:srgbClr val="0B1F33"/>
      </a:accent2>
      <a:accent3>
        <a:srgbClr val="5D6B7A"/>
      </a:accent3>
      <a:accent4>
        <a:srgbClr val="C6A15B"/>
      </a:accent4>
      <a:accent5>
        <a:srgbClr val="0B1F33"/>
      </a:accent5>
      <a:accent6>
        <a:srgbClr val="5D6B7A"/>
      </a:accent6>
      <a:hlink>
        <a:srgbClr val="0B1F33"/>
      </a:hlink>
      <a:folHlink>
        <a:srgbClr val="5D6B7A"/>
      </a:folHlink>
    </a:clrScheme>
    <a:fontScheme name="Phronesis">
      <a:majorFont>
        <a:latin typeface="Cinzel"/>
      </a:majorFont>
      <a:minorFont>
        <a:latin typeface="Inter"/>
      </a:minorFont>
    </a:fontScheme>
    <a:fmtScheme name="Phronesis">
      <a:fillStyleLst/>
      <a:lnStyleLst/>
      <a:effectStyleLst/>
      <a:bgFillStyleLst/>
    </a:fmtScheme>
  </a:themeElements>
</a:theme>
</file>